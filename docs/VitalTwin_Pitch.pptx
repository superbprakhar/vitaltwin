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F260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D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5C98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5C98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rr_max_z</c:v>
                  </c:pt>
                  <c:pt idx="1">
                    <c:v>hrv_ratio_3_7</c:v>
                  </c:pt>
                  <c:pt idx="2">
                    <c:v>temp_dev_max_z</c:v>
                  </c:pt>
                  <c:pt idx="3">
                    <c:v>hrv_evening_z</c:v>
                  </c:pt>
                  <c:pt idx="4">
                    <c:v>steps_ratio</c:v>
                  </c:pt>
                  <c:pt idx="5">
                    <c:v>hr_evening_z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0.698</c:v>
                </c:pt>
                <c:pt idx="1">
                  <c:v>0.265</c:v>
                </c:pt>
                <c:pt idx="2">
                  <c:v>0.255</c:v>
                </c:pt>
                <c:pt idx="3">
                  <c:v>-0.226</c:v>
                </c:pt>
                <c:pt idx="4">
                  <c:v>-0.191</c:v>
                </c:pt>
                <c:pt idx="5">
                  <c:v>0.151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8ED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0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-0.35"/>
        </c:scaling>
        <c:delete val="0"/>
        <c:axPos val="b"/>
        <c:majorGridlines>
          <c:spPr>
            <a:ln w="6350" cap="flat">
              <a:solidFill>
                <a:srgbClr val="2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0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821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Sensitivity</c:v>
                </c:pt>
              </c:strCache>
            </c:strRef>
          </c:tx>
          <c:spPr>
            <a:solidFill>
              <a:srgbClr val="F260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D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thr 0.005</c:v>
                  </c:pt>
                  <c:pt idx="1">
                    <c:v>thr 0.01 (deployed)</c:v>
                  </c:pt>
                  <c:pt idx="2">
                    <c:v>thr 0.02</c:v>
                  </c:pt>
                  <c:pt idx="3">
                    <c:v>thr 0.05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70</c:v>
                </c:pt>
                <c:pt idx="2">
                  <c:v>55</c:v>
                </c:pt>
                <c:pt idx="3">
                  <c:v>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Specificity</c:v>
                </c:pt>
              </c:strCache>
            </c:strRef>
          </c:tx>
          <c:spPr>
            <a:solidFill>
              <a:srgbClr val="35C9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D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thr 0.005</c:v>
                  </c:pt>
                  <c:pt idx="1">
                    <c:v>thr 0.01 (deployed)</c:v>
                  </c:pt>
                  <c:pt idx="2">
                    <c:v>thr 0.02</c:v>
                  </c:pt>
                  <c:pt idx="3">
                    <c:v>thr 0.05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77</c:v>
                </c:pt>
                <c:pt idx="2">
                  <c:v>88</c:v>
                </c:pt>
                <c:pt idx="3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8ED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FA0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2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0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FA0B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821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669280" cy="5669280"/>
          </a:xfrm>
          <a:prstGeom prst="oval">
            <a:avLst/>
          </a:prstGeom>
          <a:solidFill>
            <a:srgbClr val="4F8C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566160"/>
            <a:ext cx="3108960" cy="3108960"/>
          </a:xfrm>
          <a:prstGeom prst="oval">
            <a:avLst/>
          </a:prstGeom>
          <a:solidFill>
            <a:srgbClr val="35C98E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HAPPIEST HEALTH DIGITAL TWIN CHALLENGE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VitalTwin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living digital replica of the patient — EHR history fused with real-time wearable telemetry.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 adverse events before they happen. </a:t>
            </a:r>
            <a:pPr indent="0" marL="0">
              <a:buNone/>
            </a:pPr>
            <a:r>
              <a:rPr lang="en-US" sz="2400" b="1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 treatment before it is prescribed.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&amp; Code Submission · Team VitalTwin · Synthetic PoC, not a medical device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data silos, one reactive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VitalTwin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“The future of medicine is proactive, not reactive.” — Happiest Health, Digital Twin Challenge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1E2942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EHR: a record of the past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history — diagnoses, labs, medications. No live view of the patient between visits.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1E2942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Wearables: numbers without context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254203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IoMT telemetry — heart rate, SpO₂, glucose — with no physiological model to interpret it.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0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deterioration is discovered when it has already happened — in the ER.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182135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7091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 ask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074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Proof-of-Concept Digital Twin — a dynamic, virtual replica of a patient — integrating real-time wearable data with the EHR, to predict adverse health events and personalize treatment protocols.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HEALTHCARE USE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clinical scenarios, shipped as demo patients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VitalTwin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182135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502920" cy="502920"/>
          </a:xfrm>
          <a:prstGeom prst="oval">
            <a:avLst/>
          </a:prstGeom>
          <a:solidFill>
            <a:srgbClr val="35C98E">
              <a:alpha val="22000"/>
            </a:srgbClr>
          </a:solidFill>
          <a:ln w="15875">
            <a:solidFill>
              <a:srgbClr val="35C9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Arjun Rao · 72 · post-PCI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warning of acute deterioration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TwinRisk reads his prodrome — HR drift + HRV suppression — and fires 11–35 h before acute onset, while NEWS2 still reads 0.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182135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9432" y="1783080"/>
            <a:ext cx="502920" cy="502920"/>
          </a:xfrm>
          <a:prstGeom prst="oval">
            <a:avLst/>
          </a:prstGeom>
          <a:solidFill>
            <a:srgbClr val="4F8CFF">
              <a:alpha val="22000"/>
            </a:srgbClr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9432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Ravi Sharma · 58 · T2D + HTN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99432" y="2834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disease protocol design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99432" y="3657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Metformin titration, walking and diet changes simulated on the twin; goal-seek finds the smallest dose reaching target HbA1c — including safe deprescribing.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01584" y="146304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182135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75904" y="1783080"/>
            <a:ext cx="502920" cy="502920"/>
          </a:xfrm>
          <a:prstGeom prst="oval">
            <a:avLst/>
          </a:prstGeom>
          <a:solidFill>
            <a:srgbClr val="F0B429">
              <a:alpha val="22000"/>
            </a:srgbClr>
          </a:solidFill>
          <a:ln w="15875">
            <a:solidFill>
              <a:srgbClr val="F0B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Meera Iyer · 45 · prediabetes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75904" y="2834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Prevention &amp; risk reversal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75904" y="3657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walking + diet protocol projects HbA1c 6.34 → 5.9% and −3.5 kg over 90 days — quantified motivation for behaviour change.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 setting: home &amp; community monitoring of chronic-disease patients between clinic visits — plus post-discharge monitoring.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twin, three loops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VitalTwin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3749040"/>
          </a:xfrm>
          <a:prstGeom prst="roundRect">
            <a:avLst>
              <a:gd name="adj" fmla="val 2338"/>
            </a:avLst>
          </a:prstGeom>
          <a:solidFill>
            <a:srgbClr val="182135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4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MIRROR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Assimilation loop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Hourly wearable/CGM data assimilated onto the EHR-calibrated physiology model. Kalman filters + circadian personal baselines; BP model-carried between cuff readings.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69080" y="3429000"/>
            <a:ext cx="256032" cy="0"/>
          </a:xfrm>
          <a:prstGeom prst="line">
            <a:avLst/>
          </a:prstGeom>
          <a:noFill/>
          <a:ln w="22225">
            <a:solidFill>
              <a:srgbClr val="8FA0B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25112" y="1554480"/>
            <a:ext cx="3520440" cy="3749040"/>
          </a:xfrm>
          <a:prstGeom prst="roundRect">
            <a:avLst>
              <a:gd name="adj" fmla="val 2338"/>
            </a:avLst>
          </a:prstGeom>
          <a:solidFill>
            <a:srgbClr val="182135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9432" y="1828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260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99432" y="2286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loop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27432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NEWS2 on assimilated vitals + TwinRisk: 19 personalized drift features → 48 h deterioration probability with mean lead time ≈ 18.5 h. Every score explainable.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45552" y="3429000"/>
            <a:ext cx="256032" cy="0"/>
          </a:xfrm>
          <a:prstGeom prst="line">
            <a:avLst/>
          </a:prstGeom>
          <a:noFill/>
          <a:ln w="22225">
            <a:solidFill>
              <a:srgbClr val="8FA0B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01584" y="1554480"/>
            <a:ext cx="3520440" cy="3749040"/>
          </a:xfrm>
          <a:prstGeom prst="roundRect">
            <a:avLst>
              <a:gd name="adj" fmla="val 2338"/>
            </a:avLst>
          </a:prstGeom>
          <a:solidFill>
            <a:srgbClr val="182135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75904" y="1828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75904" y="2286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loop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75904" y="27432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forward model run 30–180 days ahead under medication/lifestyle levers; goal-seek finds the smallest change reaching the clinical target, with a ±10% jitter band.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B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Mirror keeps the replica live → Predict turns drift into early warning → Simulate turns the replica into a prescription.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Architecture: one forward model, two uses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VitalTwin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E2942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1208" y="130759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EHR (FHIR-lite)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1618488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· labs · meds · conditions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E2942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" y="286207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Wearable / CGM stream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3172968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PPG-HR · HRV · SpO₂ · steps · sleep · temp · CGM · cuff BP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514600" cy="914400"/>
          </a:xfrm>
          <a:prstGeom prst="roundRect">
            <a:avLst>
              <a:gd name="adj" fmla="val 9000"/>
            </a:avLst>
          </a:prstGeom>
          <a:solidFill>
            <a:srgbClr val="182135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5848" y="130759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618488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EHR → twin parameters (params_from_ehr)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2788920"/>
            <a:ext cx="2514600" cy="914400"/>
          </a:xfrm>
          <a:prstGeom prst="roundRect">
            <a:avLst>
              <a:gd name="adj" fmla="val 9000"/>
            </a:avLst>
          </a:prstGeom>
          <a:solidFill>
            <a:srgbClr val="182135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55848" y="286207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Assimilation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3172968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per-channel Kalman + circadian personal baselines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201168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1E2942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64808" y="208483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Physiological forward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64808" y="2395728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hourly discrete-time dynamics: cardiovascular · autonomic · respiratory · metabolic · energy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1200" y="1234440"/>
            <a:ext cx="2194560" cy="914400"/>
          </a:xfrm>
          <a:prstGeom prst="roundRect">
            <a:avLst>
              <a:gd name="adj" fmla="val 9000"/>
            </a:avLst>
          </a:prstGeom>
          <a:solidFill>
            <a:srgbClr val="182135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10928" y="130759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10928" y="1618488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NEWS2 + TwinRisk (48 h deterioration probability) → tiered alerts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01200" y="2788920"/>
            <a:ext cx="2194560" cy="914400"/>
          </a:xfrm>
          <a:prstGeom prst="roundRect">
            <a:avLst>
              <a:gd name="adj" fmla="val 9000"/>
            </a:avLst>
          </a:prstGeom>
          <a:solidFill>
            <a:srgbClr val="182135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10928" y="286207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Studio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10928" y="3172968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what-if simulation · goal-seek · lever ablation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4206240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1E2942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64808" y="4279392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+ API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64808" y="4590288"/>
            <a:ext cx="5221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twin mirror · risk &amp; alerts · trends · clinician report (FastAPI + zero-build SPA)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97480" y="1691640"/>
            <a:ext cx="548640" cy="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697480" y="3246120"/>
            <a:ext cx="548640" cy="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480560" y="2148840"/>
            <a:ext cx="0" cy="64008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760720" y="1691640"/>
            <a:ext cx="594360" cy="68580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760720" y="3246120"/>
            <a:ext cx="594360" cy="-22860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06840" y="2377440"/>
            <a:ext cx="594360" cy="-68580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06840" y="3017520"/>
            <a:ext cx="594360" cy="22860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052560" y="3383280"/>
            <a:ext cx="0" cy="822960"/>
          </a:xfrm>
          <a:prstGeom prst="line">
            <a:avLst/>
          </a:prstGeom>
          <a:noFill/>
          <a:ln w="22225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680960" y="3383280"/>
            <a:ext cx="0" cy="566928"/>
          </a:xfrm>
          <a:prstGeom prst="line">
            <a:avLst/>
          </a:prstGeom>
          <a:noFill/>
          <a:ln w="19050">
            <a:solidFill>
              <a:srgbClr val="35C98E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3246120" y="51389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loop: telemetry revealed → assimilated → re-scored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VitalTwin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7B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Twin engine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383280" y="1417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Pure Python 3 — deterministic physiology simulation, zero numeric dependencies, every constant greppable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1106424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219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7B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service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383280" y="2221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+ Pydantic — 14 endpoints, Swagger docs, strict validation of scenario levers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106424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2666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7B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383280" y="302666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Vanilla JS + Chart.js (vendored, offline-capable) — zero build step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106424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3133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7B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layer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383280" y="383133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From-scratch logistic regression (L2, standardized) + pure-Python AUROC/AP metrics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6424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3600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7B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383280" y="46360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pytest tests — clinical plausibility gates, leakage checks, API contract; GitHub Actions CI (Python 3.11–13)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94376"/>
            <a:ext cx="1106424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440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7B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grounding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383280" y="5440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NEWS2 (RCP 2017) · ADAG HbA1c · Bergman minimal model · HRV Task Force · Mifflin-St Jeor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AI/ML MODEL DETAILS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TwinRisk v1 — explainable by construction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VitalTwin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852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Given a patient-day of assimilated summaries (personal baselines from the prior 14 days only — no future leakage), predict infection-like acute deterioration within 48 hours.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(19)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z-scores: resting/evening HR, night/evening HRV, HR↑+HRV↓ composite, sleep debt &amp; fragmentation, SpO₂ dips, glycaemic variability &amp; TIR, skin-temp trend, respiration — plus age, BMI, comorbidities.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&amp; pipeline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 regression with L2 — chosen for calibration and explainability. One command retrains end-to-end on a 120-patient × 180-day synthetic cohort, assimilated by the same mirror code the live app uses (no training/serving skew), split by patient.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2084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trained weights (logit contribution, standardized features)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720840" y="1783080"/>
          <a:ext cx="49377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720840" y="5897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app/models/twinrisk_v1.json — red = risk-increasing (respiration peak, HRV-ratio drop, skin-temp trend), green = protective-direction activity.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results — synthetic validation cohort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VitalTwin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0.784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AUROC (48 h deterioration)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310128" y="1554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0.493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310128" y="2331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precision (≈30× prevalence)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08776" y="1554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18.5 h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208776" y="2331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 lead time when detected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88552" y="1554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F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 / 77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988552" y="2331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Sensitivity / specificity %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ROC sweep (24 held-out patients)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3611880"/>
          <a:ext cx="7315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8183880" y="361188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operating point
</a:t>
            </a:r>
            <a:pPr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sensitivity-weighted: a missed deterioration costs more than a review. Full ROC committed so the trade-off is explicit, not hidden.
</a:t>
            </a:r>
            <a:pPr indent="0" marL="0">
              <a:buNone/>
            </a:pPr>
            <a:r>
              <a:rPr lang="en-US" sz="125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Assimilation fidelity
</a:t>
            </a:r>
            <a:pPr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MAE 3.7 bpm · glucose MAE 3.0 mg/dL · SBP 5.1 mmHg — at the sensor noise floor.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docs/evaluation.md · docs/evaluation.json — synthetic data; internal consistency, not clinical validity.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— deterministic, reproducible, no setup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VitalTwin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566928" cy="566928"/>
          </a:xfrm>
          <a:prstGeom prst="oval">
            <a:avLst/>
          </a:prstGeom>
          <a:solidFill>
            <a:srgbClr val="1E2942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0" y="146304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run.py → http://127.0.0.1:8000 — three patients boot deterministically with 30 days of assimilated history.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106424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06624"/>
            <a:ext cx="566928" cy="566928"/>
          </a:xfrm>
          <a:prstGeom prst="oval">
            <a:avLst/>
          </a:prstGeom>
          <a:solidFill>
            <a:srgbClr val="F2607A"/>
          </a:solidFill>
          <a:ln w="19050">
            <a:solidFill>
              <a:srgbClr val="F260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06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6334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&amp; predict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74720" y="263347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“Sync 6 h” on Arjun repeatedly — the twin reveals hidden telemetry; during the prodrome TwinRisk crosses the threshold ~11–35 h before acute onset.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106424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877056"/>
            <a:ext cx="566928" cy="566928"/>
          </a:xfrm>
          <a:prstGeom prst="oval">
            <a:avLst/>
          </a:prstGeom>
          <a:solidFill>
            <a:srgbClr val="1E2942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77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80390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74720" y="3803904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Ravi: set walking/diet/metformin levers → “Simulate on twin” → HbA1c 7.52 → 6.68%, −3.5 kg, BP and resting HR improve.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28032"/>
            <a:ext cx="1106424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047488"/>
            <a:ext cx="566928" cy="566928"/>
          </a:xfrm>
          <a:prstGeom prst="oval">
            <a:avLst/>
          </a:prstGeom>
          <a:solidFill>
            <a:srgbClr val="1E2942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47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497433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Goal-seek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474720" y="497433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“Find smallest change” → the twin returns metformin 0 mg: the lifestyle protocol alone reaches target — safe deprescribing, with a ±10% jitter band.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jury script with Q&amp;A prep: docs/demo_walkthrough.md · screenshots: docs/screenshots/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&amp;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Outcomes — what the prototype demonstrates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VitalTwin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256032" cy="256032"/>
          </a:xfrm>
          <a:prstGeom prst="oval">
            <a:avLst/>
          </a:prstGeom>
          <a:solidFill>
            <a:srgbClr val="35C98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508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 twin, not a mockup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508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pipeline: EHR calibration → assimilation → early warning → protocol simulation → clinician report, all live in the browser.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6424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16352"/>
            <a:ext cx="256032" cy="256032"/>
          </a:xfrm>
          <a:prstGeom prst="oval">
            <a:avLst/>
          </a:prstGeom>
          <a:solidFill>
            <a:srgbClr val="35C98E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651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warning with lead time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2651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Deterioration risk flagged a median of ~18.5 h before acute onset on held-out synthetic patients — while NEWS2 remains normal through the prodrome.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75888"/>
            <a:ext cx="1106424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959352"/>
            <a:ext cx="256032" cy="256032"/>
          </a:xfrm>
          <a:prstGeom prst="oval">
            <a:avLst/>
          </a:prstGeom>
          <a:solidFill>
            <a:srgbClr val="35C98E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794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Protocols simulated before prescribed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3794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DPP-magnitude lifestyle effects (−0.6% HbA1c, −3.5 kg / 90 d), monotone metformin dose–response, deprescribing found by goal-seek.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18888"/>
            <a:ext cx="11064240" cy="0"/>
          </a:xfrm>
          <a:prstGeom prst="line">
            <a:avLst/>
          </a:prstGeom>
          <a:noFill/>
          <a:ln w="9525">
            <a:solidFill>
              <a:srgbClr val="2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102352"/>
            <a:ext cx="256032" cy="256032"/>
          </a:xfrm>
          <a:prstGeom prst="oval">
            <a:avLst/>
          </a:prstGeom>
          <a:solidFill>
            <a:srgbClr val="35C98E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937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engineered 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4937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Per-feature alert drivers, transparent NEWS2 baseline, published ROC sweep, 26 tests, every equation documented with its literature anchor.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not validated yet — and the path there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VitalTwin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1E2942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0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quantitative results are on synthetic data generated by the twin's own physiology model — internal consistency, not clinical validity.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Hourly resolution; beat-level phenomena (e.g. AF screening) out of scope.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 filtered independently — joint (ensemble/particle) assimilation is the upgrade path.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Steady-state medication model; no pharmacokinetics yet.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1E2942"/>
          </a:solidFill>
          <a:ln w="9525">
            <a:solidFill>
              <a:srgbClr val="2A3A5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14884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0–3 mo: retrain on real cohorts (MIMIC-IV waveforms / wearable + infection labels); subgroup calibration report; CSV device ingestion.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3–9 mo: joint assimilation; clinician alert router with acknowledgement loop; patient app; PK-aware medication layer; multi-tenant service.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9–18 mo: prospective pilot with a clinical partner; CDSCO SaMD regulatory scoping; randomised evaluation of twin-guided protocol reviews.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consider honesty a feature: knowing where the model ends is part of the engineering.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6400800" cy="6400800"/>
          </a:xfrm>
          <a:prstGeom prst="oval">
            <a:avLst/>
          </a:prstGeom>
          <a:solidFill>
            <a:srgbClr val="4F8C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Proactive, measurable.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twin is the machine that makes proactive care measurable — mirror, predict, simulate.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2245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github.com/superbPrakhar/VitalTwin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42245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 install -r requirements.txt · python run.py · pytest: 26 passed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1389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 — fully open source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17920" y="4846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C9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51389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· clinical model · evaluation · privacy &amp; ethics · roadmap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· Team VitalTwin · Happiest Health Digital Twin Challenge 2026 · synthetic data only, not a medical device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VitalTwin — Patient Digital Twin PoC</dc:title>
  <dc:subject>PptxGenJS Presentation</dc:subject>
  <dc:creator>Team VitalTwin</dc:creator>
  <cp:lastModifiedBy>Team VitalTwin</cp:lastModifiedBy>
  <cp:revision>1</cp:revision>
  <dcterms:created xsi:type="dcterms:W3CDTF">2026-10-06T19:53:35Z</dcterms:created>
  <dcterms:modified xsi:type="dcterms:W3CDTF">2026-10-06T19:53:35Z</dcterms:modified>
</cp:coreProperties>
</file>