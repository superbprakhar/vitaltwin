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VitalTwin — 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 digital twin · EHR + wearable fusion · Happiest Health Digital Twin Challenge 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1E2942"/>
          </a:solidFill>
          <a:ln w="9525">
            <a:solidFill>
              <a:srgbClr val="2A3A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21208" y="130759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EHR (FHIR-lite)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21208" y="1618488"/>
            <a:ext cx="2066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history · labs · meds · conditions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278892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1E2942"/>
          </a:solidFill>
          <a:ln w="9525">
            <a:solidFill>
              <a:srgbClr val="2A3A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21208" y="286207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Wearable / CGM stream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" y="3172968"/>
            <a:ext cx="2066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PPG-HR · HRV · SpO₂ · steps · sleep · temp · CGM · cuff BP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234440"/>
            <a:ext cx="2514600" cy="914400"/>
          </a:xfrm>
          <a:prstGeom prst="roundRect">
            <a:avLst>
              <a:gd name="adj" fmla="val 9000"/>
            </a:avLst>
          </a:prstGeom>
          <a:solidFill>
            <a:srgbClr val="182135"/>
          </a:solidFill>
          <a:ln w="9525">
            <a:solidFill>
              <a:srgbClr val="2A3A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55848" y="1307592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Calibration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55848" y="1618488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EHR → twin parameters (params_from_ehr)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2788920"/>
            <a:ext cx="2514600" cy="914400"/>
          </a:xfrm>
          <a:prstGeom prst="roundRect">
            <a:avLst>
              <a:gd name="adj" fmla="val 9000"/>
            </a:avLst>
          </a:prstGeom>
          <a:solidFill>
            <a:srgbClr val="182135"/>
          </a:solidFill>
          <a:ln w="9525">
            <a:solidFill>
              <a:srgbClr val="2A3A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55848" y="2862072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Assimilation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55848" y="3172968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per-channel Kalman + circadian personal baselines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55080" y="201168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1E2942"/>
          </a:solidFill>
          <a:ln w="9525">
            <a:solidFill>
              <a:srgbClr val="2A3A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64808" y="208483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Physiological forward model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64808" y="2395728"/>
            <a:ext cx="24323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hourly discrete-time dynamics: cardiovascular · autonomic · respiratory · metabolic · energy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601200" y="1234440"/>
            <a:ext cx="2194560" cy="914400"/>
          </a:xfrm>
          <a:prstGeom prst="roundRect">
            <a:avLst>
              <a:gd name="adj" fmla="val 9000"/>
            </a:avLst>
          </a:prstGeom>
          <a:solidFill>
            <a:srgbClr val="182135"/>
          </a:solidFill>
          <a:ln w="9525">
            <a:solidFill>
              <a:srgbClr val="2A3A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710928" y="1307592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engine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710928" y="1618488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NEWS2 + TwinRisk (48 h deterioration probability) → tiered alerts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601200" y="2788920"/>
            <a:ext cx="2194560" cy="914400"/>
          </a:xfrm>
          <a:prstGeom prst="roundRect">
            <a:avLst>
              <a:gd name="adj" fmla="val 9000"/>
            </a:avLst>
          </a:prstGeom>
          <a:solidFill>
            <a:srgbClr val="182135"/>
          </a:solidFill>
          <a:ln w="9525">
            <a:solidFill>
              <a:srgbClr val="2A3A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710928" y="2862072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 Studio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10928" y="3172968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what-if simulation · goal-seek · lever ablation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55080" y="4206240"/>
            <a:ext cx="5440680" cy="777240"/>
          </a:xfrm>
          <a:prstGeom prst="roundRect">
            <a:avLst>
              <a:gd name="adj" fmla="val 10588"/>
            </a:avLst>
          </a:prstGeom>
          <a:solidFill>
            <a:srgbClr val="1E2942"/>
          </a:solidFill>
          <a:ln w="9525">
            <a:solidFill>
              <a:srgbClr val="2A3A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64808" y="4279392"/>
            <a:ext cx="5221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+ API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64808" y="4590288"/>
            <a:ext cx="5221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twin mirror · risk &amp; alerts · trends · clinician report (FastAPI + zero-build SPA)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697480" y="1691640"/>
            <a:ext cx="548640" cy="0"/>
          </a:xfrm>
          <a:prstGeom prst="line">
            <a:avLst/>
          </a:prstGeom>
          <a:noFill/>
          <a:ln w="22225">
            <a:solidFill>
              <a:srgbClr val="4F8CF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697480" y="3246120"/>
            <a:ext cx="548640" cy="0"/>
          </a:xfrm>
          <a:prstGeom prst="line">
            <a:avLst/>
          </a:prstGeom>
          <a:noFill/>
          <a:ln w="22225">
            <a:solidFill>
              <a:srgbClr val="4F8CF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480560" y="2148840"/>
            <a:ext cx="0" cy="640080"/>
          </a:xfrm>
          <a:prstGeom prst="line">
            <a:avLst/>
          </a:prstGeom>
          <a:noFill/>
          <a:ln w="22225">
            <a:solidFill>
              <a:srgbClr val="4F8CFF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760720" y="1691640"/>
            <a:ext cx="594360" cy="685800"/>
          </a:xfrm>
          <a:prstGeom prst="line">
            <a:avLst/>
          </a:prstGeom>
          <a:noFill/>
          <a:ln w="22225">
            <a:solidFill>
              <a:srgbClr val="4F8CFF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760720" y="3246120"/>
            <a:ext cx="594360" cy="-228600"/>
          </a:xfrm>
          <a:prstGeom prst="line">
            <a:avLst/>
          </a:prstGeom>
          <a:noFill/>
          <a:ln w="22225">
            <a:solidFill>
              <a:srgbClr val="4F8CFF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006840" y="2377440"/>
            <a:ext cx="594360" cy="-685800"/>
          </a:xfrm>
          <a:prstGeom prst="line">
            <a:avLst/>
          </a:prstGeom>
          <a:noFill/>
          <a:ln w="22225">
            <a:solidFill>
              <a:srgbClr val="4F8CFF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006840" y="3017520"/>
            <a:ext cx="594360" cy="228600"/>
          </a:xfrm>
          <a:prstGeom prst="line">
            <a:avLst/>
          </a:prstGeom>
          <a:noFill/>
          <a:ln w="22225">
            <a:solidFill>
              <a:srgbClr val="4F8CFF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052560" y="3383280"/>
            <a:ext cx="0" cy="822960"/>
          </a:xfrm>
          <a:prstGeom prst="line">
            <a:avLst/>
          </a:prstGeom>
          <a:noFill/>
          <a:ln w="22225">
            <a:solidFill>
              <a:srgbClr val="4F8CFF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680960" y="3383280"/>
            <a:ext cx="0" cy="566928"/>
          </a:xfrm>
          <a:prstGeom prst="line">
            <a:avLst/>
          </a:prstGeom>
          <a:noFill/>
          <a:ln w="19050">
            <a:solidFill>
              <a:srgbClr val="35C98E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3246120" y="513892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5C9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 loop: telemetry revealed → assimilated → re-scored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11480" y="562356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forward model serves both data generation (labeled synthetic cohort) and what-if simulation — the twin's two superpowers share one equation set.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Legend: blue = calibrated twin core · dashed green = live sync loop · grey boxes = data plane. Details: docs/architecture.md · equations: docs/clinical_model.md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VitalTwin — Architecture Diagram</dc:title>
  <dc:subject>PptxGenJS Presentation</dc:subject>
  <dc:creator>Team VitalTwin</dc:creator>
  <cp:lastModifiedBy>Team VitalTwin</cp:lastModifiedBy>
  <cp:revision>1</cp:revision>
  <dcterms:created xsi:type="dcterms:W3CDTF">2026-10-06T19:53:35Z</dcterms:created>
  <dcterms:modified xsi:type="dcterms:W3CDTF">2026-10-06T19:53:35Z</dcterms:modified>
</cp:coreProperties>
</file>